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C451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9" d="100"/>
          <a:sy n="89" d="100"/>
        </p:scale>
        <p:origin x="46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BBF06-5B1F-4A04-BE25-D940959E4FD8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31034-5206-4DFE-87C2-5154C1E33152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BBF06-5B1F-4A04-BE25-D940959E4FD8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31034-5206-4DFE-87C2-5154C1E33152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BBF06-5B1F-4A04-BE25-D940959E4FD8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31034-5206-4DFE-87C2-5154C1E33152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BBF06-5B1F-4A04-BE25-D940959E4FD8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31034-5206-4DFE-87C2-5154C1E33152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BBF06-5B1F-4A04-BE25-D940959E4FD8}" type="datetimeFigureOut">
              <a:rPr lang="en-IN" smtClean="0"/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31034-5206-4DFE-87C2-5154C1E33152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BBF06-5B1F-4A04-BE25-D940959E4FD8}" type="datetimeFigureOut">
              <a:rPr lang="en-IN" smtClean="0"/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31034-5206-4DFE-87C2-5154C1E33152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BBF06-5B1F-4A04-BE25-D940959E4FD8}" type="datetimeFigureOut">
              <a:rPr lang="en-IN" smtClean="0"/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31034-5206-4DFE-87C2-5154C1E33152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BBF06-5B1F-4A04-BE25-D940959E4FD8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31034-5206-4DFE-87C2-5154C1E33152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BBF06-5B1F-4A04-BE25-D940959E4FD8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31034-5206-4DFE-87C2-5154C1E33152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BBF06-5B1F-4A04-BE25-D940959E4FD8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31034-5206-4DFE-87C2-5154C1E33152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BBF06-5B1F-4A04-BE25-D940959E4FD8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31034-5206-4DFE-87C2-5154C1E33152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4BBF06-5B1F-4A04-BE25-D940959E4FD8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D31034-5206-4DFE-87C2-5154C1E33152}" type="slidenum">
              <a:rPr lang="en-IN" smtClean="0"/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45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1">
            <a:alphaModFix amt="5000"/>
          </a:blip>
          <a:stretch>
            <a:fillRect/>
          </a:stretch>
        </p:blipFill>
        <p:spPr>
          <a:xfrm>
            <a:off x="82" y="0"/>
            <a:ext cx="12191918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0770" y="-51756"/>
            <a:ext cx="540876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>
                <a:solidFill>
                  <a:schemeClr val="bg1"/>
                </a:solidFill>
              </a:rPr>
              <a:t>PROBLEM STATEMENT</a:t>
            </a:r>
            <a:endParaRPr lang="en-IN" sz="4000" b="1" dirty="0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29396" y="572705"/>
            <a:ext cx="447710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FFC000"/>
                </a:solidFill>
              </a:rPr>
              <a:t>KPI’S Requirement</a:t>
            </a:r>
            <a:endParaRPr lang="en-IN" sz="2000" b="1" dirty="0">
              <a:solidFill>
                <a:srgbClr val="FFC000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29396" y="946416"/>
            <a:ext cx="10834778" cy="58663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  <a:buFont typeface="+mj-lt"/>
              <a:buAutoNum type="arabicPeriod"/>
            </a:pPr>
            <a:r>
              <a:rPr lang="en-US" b="1" i="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</a:rPr>
              <a:t> Total Vehicles:</a:t>
            </a:r>
            <a:endParaRPr lang="en-US" b="0" i="0" dirty="0">
              <a:solidFill>
                <a:schemeClr val="accent6">
                  <a:lumMod val="60000"/>
                  <a:lumOff val="40000"/>
                </a:schemeClr>
              </a:solidFill>
              <a:effectLst/>
            </a:endParaRPr>
          </a:p>
          <a:p>
            <a:pPr marL="742950" lvl="1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chemeClr val="bg1"/>
                </a:solidFill>
                <a:effectLst/>
              </a:rPr>
              <a:t>Understand the overall landscape of electric vehicles, encompassing both BEVs and PHEVs, to assess the market's size and growth.</a:t>
            </a:r>
            <a:endParaRPr lang="en-US" b="0" i="0" dirty="0">
              <a:solidFill>
                <a:schemeClr val="bg1"/>
              </a:solidFill>
              <a:effectLst/>
            </a:endParaRPr>
          </a:p>
          <a:p>
            <a:pPr>
              <a:lnSpc>
                <a:spcPct val="150000"/>
              </a:lnSpc>
            </a:pP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2. Average Electric Range:</a:t>
            </a:r>
            <a:endParaRPr lang="en-US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742950" lvl="1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chemeClr val="bg1"/>
                </a:solidFill>
                <a:effectLst/>
              </a:rPr>
              <a:t>Determine the average electric range of the electric vehicles in the dataset to gauge the technological advancements and efficiency of the EVs.</a:t>
            </a:r>
            <a:endParaRPr lang="en-US" b="0" i="0" dirty="0">
              <a:solidFill>
                <a:schemeClr val="bg1"/>
              </a:solidFill>
              <a:effectLst/>
            </a:endParaRPr>
          </a:p>
          <a:p>
            <a:pPr algn="l">
              <a:lnSpc>
                <a:spcPct val="150000"/>
              </a:lnSpc>
            </a:pP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3. Total BEV Vehicles and % of Total BEV Vehicles:</a:t>
            </a:r>
            <a:endParaRPr lang="en-US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742950" lvl="1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chemeClr val="bg1"/>
                </a:solidFill>
                <a:effectLst/>
              </a:rPr>
              <a:t>Identify and analyze the total number of Battery Electric Vehicles (BEVs) in the dataset.</a:t>
            </a:r>
            <a:endParaRPr lang="en-US" b="0" i="0" dirty="0">
              <a:solidFill>
                <a:schemeClr val="bg1"/>
              </a:solidFill>
              <a:effectLst/>
            </a:endParaRPr>
          </a:p>
          <a:p>
            <a:pPr marL="742950" lvl="1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chemeClr val="bg1"/>
                </a:solidFill>
                <a:effectLst/>
              </a:rPr>
              <a:t>Calculate the percentage of BEVs relative to the total number of electric vehicles, providing insights into the dominance of fully electric models.</a:t>
            </a:r>
            <a:endParaRPr lang="en-US" b="0" i="0" dirty="0">
              <a:solidFill>
                <a:schemeClr val="bg1"/>
              </a:solidFill>
              <a:effectLst/>
            </a:endParaRPr>
          </a:p>
          <a:p>
            <a:pPr>
              <a:lnSpc>
                <a:spcPct val="150000"/>
              </a:lnSpc>
            </a:pP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4. Total PHEV Vehicles and % of Total PHEV Vehicles:</a:t>
            </a:r>
            <a:endParaRPr lang="en-US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742950" lvl="1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chemeClr val="bg1"/>
                </a:solidFill>
                <a:effectLst/>
              </a:rPr>
              <a:t>Identify and analyze the total number of Plug-in Hybrid Electric Vehicles (PHEVs) in the dataset.</a:t>
            </a:r>
            <a:endParaRPr lang="en-US" b="0" i="0" dirty="0">
              <a:solidFill>
                <a:schemeClr val="bg1"/>
              </a:solidFill>
              <a:effectLst/>
            </a:endParaRPr>
          </a:p>
          <a:p>
            <a:pPr marL="742950" lvl="1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chemeClr val="bg1"/>
                </a:solidFill>
                <a:effectLst/>
              </a:rPr>
              <a:t>Calculate the percentage of PHEVs relative to the total number of electric vehicles, offering insights into the market share of plug-in hybrid models.</a:t>
            </a:r>
            <a:endParaRPr lang="en-US" b="0" i="0" dirty="0">
              <a:solidFill>
                <a:schemeClr val="bg1"/>
              </a:solidFill>
              <a:effectLst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45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1">
            <a:alphaModFix amt="5000"/>
          </a:blip>
          <a:stretch>
            <a:fillRect/>
          </a:stretch>
        </p:blipFill>
        <p:spPr>
          <a:xfrm>
            <a:off x="82" y="0"/>
            <a:ext cx="12191918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0770" y="-51756"/>
            <a:ext cx="540876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>
                <a:solidFill>
                  <a:schemeClr val="bg1"/>
                </a:solidFill>
              </a:rPr>
              <a:t>PROBLEM STATEMENT</a:t>
            </a:r>
            <a:endParaRPr lang="en-IN" sz="4000" b="1" dirty="0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29396" y="572705"/>
            <a:ext cx="447710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FFC000"/>
                </a:solidFill>
              </a:rPr>
              <a:t>Charts Requirement</a:t>
            </a:r>
            <a:endParaRPr lang="en-IN" sz="2000" b="1" dirty="0">
              <a:solidFill>
                <a:srgbClr val="FFC000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29396" y="1031228"/>
            <a:ext cx="10834778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Font typeface="+mj-lt"/>
              <a:buAutoNum type="arabicPeriod"/>
            </a:pP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Total Vehicles by Model Year (From 2010 Onwards):</a:t>
            </a:r>
            <a:endParaRPr lang="en-US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742950" lvl="1" indent="-285750" algn="l">
              <a:buFont typeface="+mj-lt"/>
              <a:buAutoNum type="arabicPeriod"/>
            </a:pPr>
            <a:r>
              <a:rPr lang="en-US" b="0" i="0" dirty="0">
                <a:solidFill>
                  <a:schemeClr val="bg1"/>
                </a:solidFill>
                <a:effectLst/>
              </a:rPr>
              <a:t>Visualization: Line/ Area Chart</a:t>
            </a:r>
            <a:endParaRPr lang="en-US" b="0" i="0" dirty="0">
              <a:solidFill>
                <a:schemeClr val="bg1"/>
              </a:solidFill>
              <a:effectLst/>
            </a:endParaRPr>
          </a:p>
          <a:p>
            <a:pPr marL="742950" lvl="1" indent="-285750" algn="l">
              <a:buFont typeface="+mj-lt"/>
              <a:buAutoNum type="arabicPeriod"/>
            </a:pPr>
            <a:r>
              <a:rPr lang="en-US" b="0" i="0" dirty="0">
                <a:solidFill>
                  <a:schemeClr val="bg1"/>
                </a:solidFill>
                <a:effectLst/>
              </a:rPr>
              <a:t>Description: This chart will illustrate the distribution of electric vehicles over the years, starting from 2010, providing insights into the growth pattern and adoption trends.</a:t>
            </a:r>
            <a:endParaRPr lang="en-US" b="0" i="0" dirty="0">
              <a:solidFill>
                <a:schemeClr val="bg1"/>
              </a:solidFill>
              <a:effectLst/>
            </a:endParaRPr>
          </a:p>
          <a:p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2. Total Vehicles by State:</a:t>
            </a:r>
            <a:endParaRPr lang="en-US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742950" lvl="1" indent="-285750" algn="l">
              <a:buFont typeface="+mj-lt"/>
              <a:buAutoNum type="arabicPeriod"/>
            </a:pPr>
            <a:r>
              <a:rPr lang="en-US" b="0" i="0" dirty="0">
                <a:solidFill>
                  <a:schemeClr val="bg1"/>
                </a:solidFill>
                <a:effectLst/>
              </a:rPr>
              <a:t>Visualization: Map Chart </a:t>
            </a:r>
            <a:endParaRPr lang="en-US" b="0" i="0" dirty="0">
              <a:solidFill>
                <a:schemeClr val="bg1"/>
              </a:solidFill>
              <a:effectLst/>
            </a:endParaRPr>
          </a:p>
          <a:p>
            <a:pPr marL="742950" lvl="1" indent="-285750" algn="l">
              <a:buFont typeface="+mj-lt"/>
              <a:buAutoNum type="arabicPeriod"/>
            </a:pPr>
            <a:r>
              <a:rPr lang="en-US" b="0" i="0" dirty="0">
                <a:solidFill>
                  <a:schemeClr val="bg1"/>
                </a:solidFill>
                <a:effectLst/>
              </a:rPr>
              <a:t>Description: This chart will showcase the geographical distribution of electric vehicles across different states, allowing for the identification of regions with higher adoption rates.</a:t>
            </a:r>
            <a:endParaRPr lang="en-US" b="0" i="0" dirty="0">
              <a:solidFill>
                <a:schemeClr val="bg1"/>
              </a:solidFill>
              <a:effectLst/>
            </a:endParaRPr>
          </a:p>
          <a:p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3. Top 10 Total Vehicles by Make:</a:t>
            </a:r>
            <a:endParaRPr lang="en-US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742950" lvl="1" indent="-285750" algn="l">
              <a:buFont typeface="+mj-lt"/>
              <a:buAutoNum type="arabicPeriod"/>
            </a:pPr>
            <a:r>
              <a:rPr lang="en-US" b="0" i="0" dirty="0">
                <a:solidFill>
                  <a:schemeClr val="bg1"/>
                </a:solidFill>
                <a:effectLst/>
              </a:rPr>
              <a:t>Visualization: Bar Chart </a:t>
            </a:r>
            <a:endParaRPr lang="en-US" b="0" i="0" dirty="0">
              <a:solidFill>
                <a:schemeClr val="bg1"/>
              </a:solidFill>
              <a:effectLst/>
            </a:endParaRPr>
          </a:p>
          <a:p>
            <a:pPr marL="742950" lvl="1" indent="-285750" algn="l">
              <a:buFont typeface="+mj-lt"/>
              <a:buAutoNum type="arabicPeriod"/>
            </a:pPr>
            <a:r>
              <a:rPr lang="en-US" b="0" i="0" dirty="0">
                <a:solidFill>
                  <a:schemeClr val="bg1"/>
                </a:solidFill>
                <a:effectLst/>
              </a:rPr>
              <a:t>Description: Highlight the top 10 electric vehicle manufacturers based on the total number of vehicles, providing insights into the market dominance of specific brands.</a:t>
            </a:r>
            <a:endParaRPr lang="en-US" b="0" i="0" dirty="0">
              <a:solidFill>
                <a:schemeClr val="bg1"/>
              </a:solidFill>
              <a:effectLst/>
            </a:endParaRPr>
          </a:p>
          <a:p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4. Total Vehicles by CAFV Eligibility:</a:t>
            </a:r>
            <a:endParaRPr lang="en-US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742950" lvl="1" indent="-285750" algn="l">
              <a:buFont typeface="+mj-lt"/>
              <a:buAutoNum type="arabicPeriod"/>
            </a:pPr>
            <a:r>
              <a:rPr lang="en-US" b="0" i="0" dirty="0">
                <a:solidFill>
                  <a:schemeClr val="bg1"/>
                </a:solidFill>
                <a:effectLst/>
              </a:rPr>
              <a:t>Visualization: Pie Chart or Donut Chart</a:t>
            </a:r>
            <a:endParaRPr lang="en-US" b="0" i="0" dirty="0">
              <a:solidFill>
                <a:schemeClr val="bg1"/>
              </a:solidFill>
              <a:effectLst/>
            </a:endParaRPr>
          </a:p>
          <a:p>
            <a:pPr marL="742950" lvl="1" indent="-285750" algn="l">
              <a:buFont typeface="+mj-lt"/>
              <a:buAutoNum type="arabicPeriod"/>
            </a:pPr>
            <a:r>
              <a:rPr lang="en-US" b="0" i="0" dirty="0">
                <a:solidFill>
                  <a:schemeClr val="bg1"/>
                </a:solidFill>
                <a:effectLst/>
              </a:rPr>
              <a:t>Description: Illustrate the proportion of electric vehicles that are eligible for Clean Alternative Fuel Vehicle (CAFV) incentives, aiding in understanding the impact of incentives on vehicle adoption.</a:t>
            </a:r>
            <a:endParaRPr lang="en-US" b="0" i="0" dirty="0">
              <a:solidFill>
                <a:schemeClr val="bg1"/>
              </a:solidFill>
              <a:effectLst/>
            </a:endParaRPr>
          </a:p>
          <a:p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5. Top 10 Total Vehicles by Model:</a:t>
            </a:r>
            <a:endParaRPr lang="en-US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742950" lvl="1" indent="-285750" algn="l">
              <a:buFont typeface="+mj-lt"/>
              <a:buAutoNum type="arabicPeriod"/>
            </a:pPr>
            <a:r>
              <a:rPr lang="en-US" b="0" i="0" dirty="0">
                <a:solidFill>
                  <a:schemeClr val="bg1"/>
                </a:solidFill>
                <a:effectLst/>
              </a:rPr>
              <a:t>Visualization: Tree map</a:t>
            </a:r>
            <a:endParaRPr lang="en-US" dirty="0">
              <a:solidFill>
                <a:schemeClr val="bg1"/>
              </a:solidFill>
            </a:endParaRPr>
          </a:p>
          <a:p>
            <a:pPr marL="742950" lvl="1" indent="-285750" algn="l">
              <a:buFont typeface="+mj-lt"/>
              <a:buAutoNum type="arabicPeriod"/>
            </a:pPr>
            <a:r>
              <a:rPr lang="en-US" b="0" i="0" dirty="0">
                <a:solidFill>
                  <a:schemeClr val="bg1"/>
                </a:solidFill>
                <a:effectLst/>
              </a:rPr>
              <a:t>Description: Highlight the top 10 electric vehicle models based on the total number of vehicles, offering insights into consumer preferences and popular models in the market.</a:t>
            </a:r>
            <a:endParaRPr lang="en-US" b="0" i="0" dirty="0">
              <a:solidFill>
                <a:schemeClr val="bg1"/>
              </a:solidFill>
              <a:effectLst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2195</Words>
  <Application>WPS Presentation</Application>
  <PresentationFormat>Widescreen</PresentationFormat>
  <Paragraphs>35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1" baseType="lpstr">
      <vt:lpstr>Arial</vt:lpstr>
      <vt:lpstr>SimSun</vt:lpstr>
      <vt:lpstr>Wingdings</vt:lpstr>
      <vt:lpstr>Century Gothic</vt:lpstr>
      <vt:lpstr>Calibri</vt:lpstr>
      <vt:lpstr>Microsoft YaHei</vt:lpstr>
      <vt:lpstr>Arial Unicode MS</vt:lpstr>
      <vt:lpstr>Calibri Light</vt:lpstr>
      <vt:lpstr>Office Theme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Swapnajeet A</dc:creator>
  <cp:lastModifiedBy>Administrator</cp:lastModifiedBy>
  <cp:revision>9</cp:revision>
  <dcterms:created xsi:type="dcterms:W3CDTF">2024-02-05T09:30:00Z</dcterms:created>
  <dcterms:modified xsi:type="dcterms:W3CDTF">2026-01-11T13:13:14Z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FD6BCA3C8D884142BFF3036E426B8EA1_12</vt:lpwstr>
  </property>
  <property fmtid="{D5CDD505-2E9C-101B-9397-08002B2CF9AE}" pid="3" name="KSOProductBuildVer">
    <vt:lpwstr>2057-12.2.0.23196</vt:lpwstr>
  </property>
</Properties>
</file>